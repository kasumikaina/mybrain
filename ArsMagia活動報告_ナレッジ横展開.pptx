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冒頭一言: ゲーム自慢の場ではなくナレッジ共有として聞いてほしい旨を強調。所要10分。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趣旨を最初に握る。3軸(マネジメント/法対応/税務)に絞る理由と、経営層・部門長それぞれの持ち帰り視点を提示。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ここはサラッと。1分以内。聞かれたら掘る前提で深入りしない。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強調: 「やらない判断」を自分で下した経験は、社内プロジェクトのスコープ管理にそのまま使える。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実体験として語れる強み。社内コンプラ・AI導入時のガイドライン整備に直結することを強調。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副業の件は正面から提起。隠さず「ガイドライン整備を一緒に考えませんか」と前向きな論点として置く。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テーブルを左から右へ目線で読み上げる。3軸ナレッジが社内のどこに接続するか俯瞰してもらう。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A→C の順で軽く読み上げ。Bだけは少し丁寧に説明、副業の件を前向きな論点として置く。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質問受け付け。特に副業ガイドラインの件で経営層の反応見たい。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514350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1463040"/>
            <a:ext cx="7772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ArsMagia 活動報告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731520" y="233172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CADCF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個人開発から得た事業運営ナレッジの共有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731520" y="2971800"/>
            <a:ext cx="2286000" cy="0"/>
          </a:xfrm>
          <a:prstGeom prst="line">
            <a:avLst/>
          </a:prstGeom>
          <a:noFill/>
          <a:ln w="25400">
            <a:solidFill>
              <a:srgbClr val="1C729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429768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2026.05.13   鳥越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65A8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本報告の趣旨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51560"/>
            <a:ext cx="8229600" cy="91440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1097280"/>
            <a:ext cx="7863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「ゲームを作りました」ではなく、個人事業を1人で運営してきた経験から得た知見を、Marukin業務に転用するための報告です。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457200" y="2331720"/>
            <a:ext cx="2697480" cy="219456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77240" y="2606040"/>
            <a:ext cx="640080" cy="640080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2743200"/>
            <a:ext cx="365760" cy="36576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554480" y="2606040"/>
            <a:ext cx="1508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1295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マネジメント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731520" y="3383280"/>
            <a:ext cx="2148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1人プロジェクトの優先度判断・リリース判断・運用継続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3223260" y="2331720"/>
            <a:ext cx="2697480" cy="219456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3543300" y="2606040"/>
            <a:ext cx="640080" cy="640080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80460" y="2743200"/>
            <a:ext cx="365760" cy="36576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320540" y="2606040"/>
            <a:ext cx="1508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1295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法対応</a:t>
            </a:r>
            <a:endParaRPr lang="en-US" sz="1800" dirty="0"/>
          </a:p>
        </p:txBody>
      </p:sp>
      <p:sp>
        <p:nvSpPr>
          <p:cNvPr id="14" name="Text 10"/>
          <p:cNvSpPr/>
          <p:nvPr/>
        </p:nvSpPr>
        <p:spPr>
          <a:xfrm>
            <a:off x="3497580" y="3383280"/>
            <a:ext cx="2148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利用規約・個人情報・著作権の実体験</a:t>
            </a:r>
            <a:endParaRPr lang="en-US" sz="1200" dirty="0"/>
          </a:p>
        </p:txBody>
      </p:sp>
      <p:sp>
        <p:nvSpPr>
          <p:cNvPr id="15" name="Shape 11"/>
          <p:cNvSpPr/>
          <p:nvPr/>
        </p:nvSpPr>
        <p:spPr>
          <a:xfrm>
            <a:off x="5989320" y="2331720"/>
            <a:ext cx="2697480" cy="219456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6309360" y="2606040"/>
            <a:ext cx="640080" cy="640080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46520" y="2743200"/>
            <a:ext cx="365760" cy="36576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7086600" y="2606040"/>
            <a:ext cx="1508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1295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税務</a:t>
            </a:r>
            <a:endParaRPr lang="en-US" sz="1800" dirty="0"/>
          </a:p>
        </p:txBody>
      </p:sp>
      <p:sp>
        <p:nvSpPr>
          <p:cNvPr id="19" name="Text 14"/>
          <p:cNvSpPr/>
          <p:nvPr/>
        </p:nvSpPr>
        <p:spPr>
          <a:xfrm>
            <a:off x="6263640" y="3383280"/>
            <a:ext cx="2148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収益化に伴う所得区分・経費計上・副業整合</a:t>
            </a:r>
            <a:endParaRPr lang="en-US" sz="1200" dirty="0"/>
          </a:p>
        </p:txBody>
      </p:sp>
      <p:sp>
        <p:nvSpPr>
          <p:cNvPr id="20" name="Text 15"/>
          <p:cNvSpPr/>
          <p:nvPr/>
        </p:nvSpPr>
        <p:spPr>
          <a:xfrm>
            <a:off x="457200" y="47091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47556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読み手別の持ち帰り:  経営層 = 副業/法務の論点提起   /   部門長 = 自部署への転用シナリオ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65A8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ArsMagiaとは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89611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47556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(本日のスコープは「これを業務にどう転用するか」なので概要は1枚で)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457200" y="1463040"/>
            <a:ext cx="4846320" cy="45720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463040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65A8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種別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920240" y="146304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個人開発ブラウザRPG (ポチゲー)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40080" y="1920240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65A8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公開日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920240" y="192024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2026年2月25日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57200" y="2377440"/>
            <a:ext cx="4846320" cy="45720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2377440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65A8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技術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920240" y="237744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React + Firebase / Firestore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40080" y="2834640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65A8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ドメイン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920240" y="283464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arsmagia.com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57200" y="3291840"/>
            <a:ext cx="4846320" cy="45720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0080" y="3291840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65A8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状態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920240" y="329184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公開後・運営継続中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40080" y="3749040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65A8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収益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920240" y="374904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発生あり (規模は別途口頭)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5577840" y="1463040"/>
            <a:ext cx="3108960" cy="2743200"/>
          </a:xfrm>
          <a:prstGeom prst="rect">
            <a:avLst/>
          </a:prstGeom>
          <a:solidFill>
            <a:srgbClr val="21295C"/>
          </a:solidFill>
          <a:ln w="12700">
            <a:solidFill>
              <a:srgbClr val="21295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760720" y="160020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ADCF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位置づけ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5760720" y="2011680"/>
            <a:ext cx="274320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20年構想を経た自作プロジェクト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個人事業として運営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技術・法務・税務すべてを1人で経験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57200" y="44805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729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→ 次ページから「業務に転用できる知見」を3つに整理して報告します。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594360" cy="594360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6576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143000" y="36576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47556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ナレッジ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143000" y="59436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65A8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マネジメント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457200" y="123444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1E293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1人プロジェクトは「やらない判断」が成否を決める。優先度・リリース判断・運用継続の実体験。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" y="1828800"/>
            <a:ext cx="4114800" cy="246888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85800" y="196596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65A8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経験した実務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85800" y="2377440"/>
            <a:ext cx="365760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20年構想のうち何を初版に入れるか/落とすかの取捨選択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完成度とリリース速度のトレードオフを自分1人で決断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公開後の不具合対応・ユーザー要望の優先順位付け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1人で続けるためのタスク粒度設計と燃え尽き回避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709160" y="1828800"/>
            <a:ext cx="3977640" cy="246888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937760" y="1965960"/>
            <a:ext cx="3520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ADCF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Marukin業務への転用ポイント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937760" y="2377440"/>
            <a:ext cx="352044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基幹刷新PoCの「スコープ削り」判断材料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AI浸透フェーズの段階リリース設計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HR評価制度の運用継続性レビュー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中間管理視点での「捨てる選択」の言語化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57200" y="4480560"/>
            <a:ext cx="8229600" cy="457200"/>
          </a:xfrm>
          <a:prstGeom prst="rect">
            <a:avLst/>
          </a:prstGeom>
          <a:solidFill>
            <a:srgbClr val="21295C"/>
          </a:solidFill>
          <a:ln w="12700">
            <a:solidFill>
              <a:srgbClr val="21295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0080" y="448056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i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「全部やる」は1人プロジェクトでは破綻する。社内プロジェクトでも同じ構造が成立する。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594360" cy="594360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6576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143000" y="36576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47556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ナレッジ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143000" y="59436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65A8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法対応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457200" y="123444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1E293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個人開発でも避けられない、利用規約・個人情報・著作権の実務経験。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" y="1828800"/>
            <a:ext cx="4114800" cy="246888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85800" y="196596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65A8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経験した実務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85800" y="2377440"/>
            <a:ext cx="365760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利用規約・プライバシーポリシーの策定と公開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Firebase Auth/Firestore 上の個人情報取扱い設計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ゲーム素材の著作権処理(自作 / 商用ライセンス)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特定商取引法表示の判断 (収益化との関係整理)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709160" y="1828800"/>
            <a:ext cx="3977640" cy="246888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937760" y="1965960"/>
            <a:ext cx="3520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ADCF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Marukin業務への転用ポイント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937760" y="2377440"/>
            <a:ext cx="352044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AI導入時の社内データ取扱いガイドライン草案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SaaS導入時の利用規約レビュー観点の提供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顧客データ・社員データの取扱い設計レビュー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著作権周りの社内啓発・問い合わせ窓口化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57200" y="4480560"/>
            <a:ext cx="8229600" cy="457200"/>
          </a:xfrm>
          <a:prstGeom prst="rect">
            <a:avLst/>
          </a:prstGeom>
          <a:solidFill>
            <a:srgbClr val="21295C"/>
          </a:solidFill>
          <a:ln w="12700">
            <a:solidFill>
              <a:srgbClr val="21295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0080" y="448056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i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「利用規約は1回作って終わり」ではない。法改正やサービス変更ごとに更新する運用が必要。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594360" cy="594360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6576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143000" y="36576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47556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ナレッジ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143000" y="59436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65A8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税務 (+ 副業ガイドライン論点)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457200" y="123444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1E293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収益発生に伴い、所得区分・経費・副業整合をいま検討中。Marukinの副業ガイドライン整備の論点提起も含む。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" y="1828800"/>
            <a:ext cx="4114800" cy="246888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85800" y="196596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65A8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経験した実務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85800" y="2377440"/>
            <a:ext cx="365760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収益発生 → 所得区分(雑所得 vs 事業所得)の判断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開業届の検討タイミングと判断軸の整理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経費計上の範囲設計(サーバ代/ドメイン/開発機材等)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確定申告フローと freee 活用の検討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709160" y="1828800"/>
            <a:ext cx="3977640" cy="246888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937760" y="1965960"/>
            <a:ext cx="3520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ADCF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Marukin業務への転用ポイント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937760" y="2377440"/>
            <a:ext cx="352044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freee連携プロジェクトへの実体験フィードバック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経理部門との連携(個人事業主視点の業務理解)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【正式提起】Marukin副業ガイドライン整備の必要性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社員の副業相談時の論点リスト化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57200" y="4480560"/>
            <a:ext cx="8229600" cy="457200"/>
          </a:xfrm>
          <a:prstGeom prst="rect">
            <a:avLst/>
          </a:prstGeom>
          <a:solidFill>
            <a:srgbClr val="21295C"/>
          </a:solidFill>
          <a:ln w="12700">
            <a:solidFill>
              <a:srgbClr val="21295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0080" y="448056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i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副業ガイドラインの空白は、報告者(私)だけでなく今後の社員にとっても関わる。今回の報告がその整備の起点になれば。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65A8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Marukin業務へのマッピング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89611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47556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3つのナレッジが、現行業務のどこに刺さるか</a:t>
            </a:r>
            <a:endParaRPr lang="en-US" sz="12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71600"/>
          <a:ext cx="8229600" cy="914400"/>
        </p:xfrm>
        <a:graphic>
          <a:graphicData uri="http://schemas.openxmlformats.org/drawingml/2006/table">
            <a:tbl>
              <a:tblPr/>
              <a:tblGrid>
                <a:gridCol w="1645920"/>
                <a:gridCol w="2560320"/>
                <a:gridCol w="4023360"/>
              </a:tblGrid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ナレッジ</a:t>
                      </a:r>
                      <a:endParaRPr lang="en-US" sz="12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現行プロジェクト</a:t>
                      </a:r>
                      <a:endParaRPr lang="en-US" sz="12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転用シーン</a:t>
                      </a:r>
                      <a:endParaRPr lang="en-US" sz="12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65A8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マネジメント</a:t>
                      </a:r>
                      <a:endParaRPr lang="en-US" sz="11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DC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基幹刷新 / AI推進</a:t>
                      </a:r>
                      <a:endParaRPr lang="en-US" sz="11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スコープ管理・段階リリース設計の判断軸提供</a:t>
                      </a:r>
                      <a:endParaRPr lang="en-US" sz="11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65A8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マネジメント</a:t>
                      </a:r>
                      <a:endParaRPr lang="en-US" sz="11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DC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HR評価制度</a:t>
                      </a:r>
                      <a:endParaRPr lang="en-US" sz="11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運用継続性レビュー・1人運用前提の業務設計</a:t>
                      </a:r>
                      <a:endParaRPr lang="en-US" sz="11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65A8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法対応</a:t>
                      </a:r>
                      <a:endParaRPr lang="en-US" sz="11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DC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AI導入 / SaaS導入</a:t>
                      </a:r>
                      <a:endParaRPr lang="en-US" sz="11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規約・個人情報の社内ガイドライン草案</a:t>
                      </a:r>
                      <a:endParaRPr lang="en-US" sz="11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65A8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法対応</a:t>
                      </a:r>
                      <a:endParaRPr lang="en-US" sz="11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DC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顧客データ・社員データ管理</a:t>
                      </a:r>
                      <a:endParaRPr lang="en-US" sz="11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プライバシー設計レビューと啓発</a:t>
                      </a:r>
                      <a:endParaRPr lang="en-US" sz="11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65A8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税務</a:t>
                      </a:r>
                      <a:endParaRPr lang="en-US" sz="11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DC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freee連携プロジェクト</a:t>
                      </a:r>
                      <a:endParaRPr lang="en-US" sz="11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個人事業主視点での実体験フィードバック</a:t>
                      </a:r>
                      <a:endParaRPr lang="en-US" sz="11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65A8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税務</a:t>
                      </a:r>
                      <a:endParaRPr lang="en-US" sz="11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DC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(新規) 副業ガイドライン整備</a:t>
                      </a:r>
                      <a:endParaRPr lang="en-US" sz="11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Marukin社員向けガイドラインの起点として活用</a:t>
                      </a:r>
                      <a:endParaRPr lang="en-US" sz="11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65A8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横展開アクション提案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89611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47556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会議後の具体的な動きとして3つ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457200" y="1417320"/>
            <a:ext cx="8229600" cy="105156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417320"/>
            <a:ext cx="73152" cy="105156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85800" y="1645920"/>
            <a:ext cx="594360" cy="594360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64592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A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1417320" y="1527048"/>
            <a:ext cx="7132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1295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法対応ナレッジを社内ガイドライン草案として共有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417320" y="1947672"/>
            <a:ext cx="7132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065A8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対象: AI推進・SaaS導入関連部門</a:t>
            </a:r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    </a:t>
            </a:r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利用規約レビュー観点・個人情報取扱いチェックリスト化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" y="2606040"/>
            <a:ext cx="8229600" cy="105156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57200" y="2606040"/>
            <a:ext cx="73152" cy="105156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85800" y="2834640"/>
            <a:ext cx="594360" cy="594360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85800" y="283464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B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1417320" y="2715768"/>
            <a:ext cx="7132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1295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副業ガイドライン整備を正式に論点提起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1417320" y="3136392"/>
            <a:ext cx="7132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065A8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対象: 社長・相談役・人事担当</a:t>
            </a:r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    </a:t>
            </a:r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報告者本人のケースを起点に、社員全体に適用可能な枠組みを協議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57200" y="3794760"/>
            <a:ext cx="8229600" cy="105156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57200" y="3794760"/>
            <a:ext cx="73152" cy="105156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85800" y="4023360"/>
            <a:ext cx="594360" cy="594360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85800" y="402336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C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1417320" y="3904488"/>
            <a:ext cx="7132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1295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freee運用知見を経理担当と共有・連携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1417320" y="4325112"/>
            <a:ext cx="7132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065A8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対象: 経理担当・基幹刷新PT</a:t>
            </a:r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    </a:t>
            </a:r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個人事業主視点での運用観察を、基幹刷新検討にフィードバック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514350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1371600"/>
            <a:ext cx="7772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Q &amp; A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731520" y="228600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ADCF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どのナレッジから掘り下げますか?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731520" y="2926080"/>
            <a:ext cx="2286000" cy="0"/>
          </a:xfrm>
          <a:prstGeom prst="line">
            <a:avLst/>
          </a:prstGeom>
          <a:noFill/>
          <a:ln w="25400">
            <a:solidFill>
              <a:srgbClr val="1C729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3200400"/>
            <a:ext cx="45720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マネジメント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法対応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税務 / 副業ガイドライン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ArsMagia活動報告</dc:title>
  <dc:subject>PptxGenJS Presentation</dc:subject>
  <dc:creator>鳥越 (Kaina)</dc:creator>
  <cp:lastModifiedBy>鳥越 (Kaina)</cp:lastModifiedBy>
  <cp:revision>1</cp:revision>
  <dcterms:created xsi:type="dcterms:W3CDTF">2026-05-13T00:07:38Z</dcterms:created>
  <dcterms:modified xsi:type="dcterms:W3CDTF">2026-05-13T00:07:38Z</dcterms:modified>
</cp:coreProperties>
</file>